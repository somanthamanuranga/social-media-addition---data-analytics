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67" r:id="rId4"/>
    <p:sldId id="264" r:id="rId5"/>
    <p:sldId id="266" r:id="rId6"/>
    <p:sldId id="265" r:id="rId7"/>
    <p:sldId id="268" r:id="rId8"/>
    <p:sldId id="270" r:id="rId9"/>
    <p:sldId id="259" r:id="rId10"/>
    <p:sldId id="269" r:id="rId11"/>
    <p:sldId id="262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301" y="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8634DB-0B46-4EBB-ABA8-D9C17C1D1A45}" type="doc">
      <dgm:prSet loTypeId="urn:microsoft.com/office/officeart/2005/8/layout/target3" loCatId="relationship" qsTypeId="urn:microsoft.com/office/officeart/2005/8/quickstyle/3d6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044F015-87A9-4CBA-904F-AB1983E4613A}">
      <dgm:prSet/>
      <dgm:spPr/>
      <dgm:t>
        <a:bodyPr/>
        <a:lstStyle/>
        <a:p>
          <a:r>
            <a:rPr lang="en-US" b="1"/>
            <a:t>Statistical Insight:</a:t>
          </a:r>
          <a:endParaRPr lang="en-IN"/>
        </a:p>
      </dgm:t>
    </dgm:pt>
    <dgm:pt modelId="{9CE2B998-C8A9-4B85-9E9A-187B151ED35A}" type="parTrans" cxnId="{A7F8B5F0-57BF-455F-B9DC-F3CBB9B25B15}">
      <dgm:prSet/>
      <dgm:spPr/>
      <dgm:t>
        <a:bodyPr/>
        <a:lstStyle/>
        <a:p>
          <a:endParaRPr lang="en-IN"/>
        </a:p>
      </dgm:t>
    </dgm:pt>
    <dgm:pt modelId="{3DC5A0E2-812C-41FF-AC2A-74F522D9B358}" type="sibTrans" cxnId="{A7F8B5F0-57BF-455F-B9DC-F3CBB9B25B15}">
      <dgm:prSet/>
      <dgm:spPr/>
      <dgm:t>
        <a:bodyPr/>
        <a:lstStyle/>
        <a:p>
          <a:endParaRPr lang="en-IN"/>
        </a:p>
      </dgm:t>
    </dgm:pt>
    <dgm:pt modelId="{D8AE3BF6-3134-40FB-AD32-829CC7ECEF82}">
      <dgm:prSet/>
      <dgm:spPr/>
      <dgm:t>
        <a:bodyPr/>
        <a:lstStyle/>
        <a:p>
          <a:r>
            <a:rPr lang="en-US" dirty="0"/>
            <a:t>Students who reported that social media affects their academics (YES group) sleep </a:t>
          </a:r>
          <a:r>
            <a:rPr lang="en-US" b="1" dirty="0"/>
            <a:t>on average 6.3 hours</a:t>
          </a:r>
          <a:r>
            <a:rPr lang="en-US" dirty="0"/>
            <a:t>, compared to </a:t>
          </a:r>
          <a:r>
            <a:rPr lang="en-US" b="1" dirty="0"/>
            <a:t>7.8 hours</a:t>
          </a:r>
          <a:r>
            <a:rPr lang="en-US" dirty="0"/>
            <a:t> for the NO group</a:t>
          </a:r>
          <a:endParaRPr lang="en-IN" dirty="0"/>
        </a:p>
      </dgm:t>
    </dgm:pt>
    <dgm:pt modelId="{192BDA43-DACD-43FE-A8AB-122F75A59299}" type="parTrans" cxnId="{6D86C808-8961-403D-B97B-39EE5C12C6A7}">
      <dgm:prSet/>
      <dgm:spPr/>
      <dgm:t>
        <a:bodyPr/>
        <a:lstStyle/>
        <a:p>
          <a:endParaRPr lang="en-IN"/>
        </a:p>
      </dgm:t>
    </dgm:pt>
    <dgm:pt modelId="{DDE1DB49-6D05-451B-B0FB-A13EDC9D525C}" type="sibTrans" cxnId="{6D86C808-8961-403D-B97B-39EE5C12C6A7}">
      <dgm:prSet/>
      <dgm:spPr/>
      <dgm:t>
        <a:bodyPr/>
        <a:lstStyle/>
        <a:p>
          <a:endParaRPr lang="en-IN"/>
        </a:p>
      </dgm:t>
    </dgm:pt>
    <dgm:pt modelId="{EA38DA8E-1364-4F84-917D-5FB79191FCCB}" type="pres">
      <dgm:prSet presAssocID="{7F8634DB-0B46-4EBB-ABA8-D9C17C1D1A4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A8BAC64-0273-40CD-92D1-149416EFBDBB}" type="pres">
      <dgm:prSet presAssocID="{2044F015-87A9-4CBA-904F-AB1983E4613A}" presName="circle1" presStyleLbl="node1" presStyleIdx="0" presStyleCnt="2" custLinFactNeighborX="414" custLinFactNeighborY="2123"/>
      <dgm:spPr/>
    </dgm:pt>
    <dgm:pt modelId="{BA15EBCD-3724-49E6-878C-2BC2B926C385}" type="pres">
      <dgm:prSet presAssocID="{2044F015-87A9-4CBA-904F-AB1983E4613A}" presName="space" presStyleCnt="0"/>
      <dgm:spPr/>
    </dgm:pt>
    <dgm:pt modelId="{D98E7B36-4527-423B-A370-5A02D1DABB6F}" type="pres">
      <dgm:prSet presAssocID="{2044F015-87A9-4CBA-904F-AB1983E4613A}" presName="rect1" presStyleLbl="alignAcc1" presStyleIdx="0" presStyleCnt="2"/>
      <dgm:spPr/>
    </dgm:pt>
    <dgm:pt modelId="{28F9A7D5-9700-40D8-986D-88A0D2F5FE85}" type="pres">
      <dgm:prSet presAssocID="{D8AE3BF6-3134-40FB-AD32-829CC7ECEF82}" presName="vertSpace2" presStyleLbl="node1" presStyleIdx="0" presStyleCnt="2"/>
      <dgm:spPr/>
    </dgm:pt>
    <dgm:pt modelId="{9799938B-70D9-49DA-BB46-4D77F030413A}" type="pres">
      <dgm:prSet presAssocID="{D8AE3BF6-3134-40FB-AD32-829CC7ECEF82}" presName="circle2" presStyleLbl="node1" presStyleIdx="1" presStyleCnt="2"/>
      <dgm:spPr/>
    </dgm:pt>
    <dgm:pt modelId="{C78D9859-D0AE-46F0-AF49-90A60B47481B}" type="pres">
      <dgm:prSet presAssocID="{D8AE3BF6-3134-40FB-AD32-829CC7ECEF82}" presName="rect2" presStyleLbl="alignAcc1" presStyleIdx="1" presStyleCnt="2"/>
      <dgm:spPr/>
    </dgm:pt>
    <dgm:pt modelId="{FDFF4922-D309-4712-AA92-1BA38A57115B}" type="pres">
      <dgm:prSet presAssocID="{2044F015-87A9-4CBA-904F-AB1983E4613A}" presName="rect1ParTxNoCh" presStyleLbl="alignAcc1" presStyleIdx="1" presStyleCnt="2">
        <dgm:presLayoutVars>
          <dgm:chMax val="1"/>
          <dgm:bulletEnabled val="1"/>
        </dgm:presLayoutVars>
      </dgm:prSet>
      <dgm:spPr/>
    </dgm:pt>
    <dgm:pt modelId="{8ECB8ED1-B2D3-45B9-A980-EE48A72DD17C}" type="pres">
      <dgm:prSet presAssocID="{D8AE3BF6-3134-40FB-AD32-829CC7ECEF82}" presName="rect2ParTxNoCh" presStyleLbl="alignAcc1" presStyleIdx="1" presStyleCnt="2">
        <dgm:presLayoutVars>
          <dgm:chMax val="1"/>
          <dgm:bulletEnabled val="1"/>
        </dgm:presLayoutVars>
      </dgm:prSet>
      <dgm:spPr/>
    </dgm:pt>
  </dgm:ptLst>
  <dgm:cxnLst>
    <dgm:cxn modelId="{6D86C808-8961-403D-B97B-39EE5C12C6A7}" srcId="{7F8634DB-0B46-4EBB-ABA8-D9C17C1D1A45}" destId="{D8AE3BF6-3134-40FB-AD32-829CC7ECEF82}" srcOrd="1" destOrd="0" parTransId="{192BDA43-DACD-43FE-A8AB-122F75A59299}" sibTransId="{DDE1DB49-6D05-451B-B0FB-A13EDC9D525C}"/>
    <dgm:cxn modelId="{2610291E-6EAB-4134-A26B-9D99B0409C60}" type="presOf" srcId="{D8AE3BF6-3134-40FB-AD32-829CC7ECEF82}" destId="{8ECB8ED1-B2D3-45B9-A980-EE48A72DD17C}" srcOrd="1" destOrd="0" presId="urn:microsoft.com/office/officeart/2005/8/layout/target3"/>
    <dgm:cxn modelId="{668B883F-2753-4CFC-B321-E11425EAE1A0}" type="presOf" srcId="{D8AE3BF6-3134-40FB-AD32-829CC7ECEF82}" destId="{C78D9859-D0AE-46F0-AF49-90A60B47481B}" srcOrd="0" destOrd="0" presId="urn:microsoft.com/office/officeart/2005/8/layout/target3"/>
    <dgm:cxn modelId="{9A1CA087-95E1-4E37-9E81-28CA33925C6D}" type="presOf" srcId="{2044F015-87A9-4CBA-904F-AB1983E4613A}" destId="{D98E7B36-4527-423B-A370-5A02D1DABB6F}" srcOrd="0" destOrd="0" presId="urn:microsoft.com/office/officeart/2005/8/layout/target3"/>
    <dgm:cxn modelId="{DCDF11D3-FFCF-4153-B097-6EFB7D4C4C5B}" type="presOf" srcId="{7F8634DB-0B46-4EBB-ABA8-D9C17C1D1A45}" destId="{EA38DA8E-1364-4F84-917D-5FB79191FCCB}" srcOrd="0" destOrd="0" presId="urn:microsoft.com/office/officeart/2005/8/layout/target3"/>
    <dgm:cxn modelId="{29C7C3DF-36D3-41DF-A263-8B57FBA17573}" type="presOf" srcId="{2044F015-87A9-4CBA-904F-AB1983E4613A}" destId="{FDFF4922-D309-4712-AA92-1BA38A57115B}" srcOrd="1" destOrd="0" presId="urn:microsoft.com/office/officeart/2005/8/layout/target3"/>
    <dgm:cxn modelId="{A7F8B5F0-57BF-455F-B9DC-F3CBB9B25B15}" srcId="{7F8634DB-0B46-4EBB-ABA8-D9C17C1D1A45}" destId="{2044F015-87A9-4CBA-904F-AB1983E4613A}" srcOrd="0" destOrd="0" parTransId="{9CE2B998-C8A9-4B85-9E9A-187B151ED35A}" sibTransId="{3DC5A0E2-812C-41FF-AC2A-74F522D9B358}"/>
    <dgm:cxn modelId="{B4934CDC-8513-4CE2-89A6-DC436F2F35F6}" type="presParOf" srcId="{EA38DA8E-1364-4F84-917D-5FB79191FCCB}" destId="{BA8BAC64-0273-40CD-92D1-149416EFBDBB}" srcOrd="0" destOrd="0" presId="urn:microsoft.com/office/officeart/2005/8/layout/target3"/>
    <dgm:cxn modelId="{783D3420-8B74-4577-8234-0A175BBFB4F2}" type="presParOf" srcId="{EA38DA8E-1364-4F84-917D-5FB79191FCCB}" destId="{BA15EBCD-3724-49E6-878C-2BC2B926C385}" srcOrd="1" destOrd="0" presId="urn:microsoft.com/office/officeart/2005/8/layout/target3"/>
    <dgm:cxn modelId="{1FF9E4DF-E26C-471B-8290-7484B2B16B6D}" type="presParOf" srcId="{EA38DA8E-1364-4F84-917D-5FB79191FCCB}" destId="{D98E7B36-4527-423B-A370-5A02D1DABB6F}" srcOrd="2" destOrd="0" presId="urn:microsoft.com/office/officeart/2005/8/layout/target3"/>
    <dgm:cxn modelId="{50B66807-C58F-4369-B092-5D4A2CBE68BE}" type="presParOf" srcId="{EA38DA8E-1364-4F84-917D-5FB79191FCCB}" destId="{28F9A7D5-9700-40D8-986D-88A0D2F5FE85}" srcOrd="3" destOrd="0" presId="urn:microsoft.com/office/officeart/2005/8/layout/target3"/>
    <dgm:cxn modelId="{1736A601-FF06-40C5-A29F-F70405AFD169}" type="presParOf" srcId="{EA38DA8E-1364-4F84-917D-5FB79191FCCB}" destId="{9799938B-70D9-49DA-BB46-4D77F030413A}" srcOrd="4" destOrd="0" presId="urn:microsoft.com/office/officeart/2005/8/layout/target3"/>
    <dgm:cxn modelId="{A72CBF10-8959-48D7-8F3B-A41411D3910A}" type="presParOf" srcId="{EA38DA8E-1364-4F84-917D-5FB79191FCCB}" destId="{C78D9859-D0AE-46F0-AF49-90A60B47481B}" srcOrd="5" destOrd="0" presId="urn:microsoft.com/office/officeart/2005/8/layout/target3"/>
    <dgm:cxn modelId="{C5BD7D14-46BE-4774-9591-039C62F5697C}" type="presParOf" srcId="{EA38DA8E-1364-4F84-917D-5FB79191FCCB}" destId="{FDFF4922-D309-4712-AA92-1BA38A57115B}" srcOrd="6" destOrd="0" presId="urn:microsoft.com/office/officeart/2005/8/layout/target3"/>
    <dgm:cxn modelId="{35F31C39-3A52-424C-B3E5-116FCEC6C2BA}" type="presParOf" srcId="{EA38DA8E-1364-4F84-917D-5FB79191FCCB}" destId="{8ECB8ED1-B2D3-45B9-A980-EE48A72DD17C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8634DB-0B46-4EBB-ABA8-D9C17C1D1A45}" type="doc">
      <dgm:prSet loTypeId="urn:microsoft.com/office/officeart/2005/8/layout/target3" loCatId="relationship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044F015-87A9-4CBA-904F-AB1983E4613A}">
      <dgm:prSet/>
      <dgm:spPr/>
      <dgm:t>
        <a:bodyPr/>
        <a:lstStyle/>
        <a:p>
          <a:r>
            <a:rPr lang="en-US" b="1"/>
            <a:t>Statistical Insight:</a:t>
          </a:r>
          <a:endParaRPr lang="en-IN"/>
        </a:p>
      </dgm:t>
    </dgm:pt>
    <dgm:pt modelId="{9CE2B998-C8A9-4B85-9E9A-187B151ED35A}" type="parTrans" cxnId="{A7F8B5F0-57BF-455F-B9DC-F3CBB9B25B15}">
      <dgm:prSet/>
      <dgm:spPr/>
      <dgm:t>
        <a:bodyPr/>
        <a:lstStyle/>
        <a:p>
          <a:endParaRPr lang="en-IN"/>
        </a:p>
      </dgm:t>
    </dgm:pt>
    <dgm:pt modelId="{3DC5A0E2-812C-41FF-AC2A-74F522D9B358}" type="sibTrans" cxnId="{A7F8B5F0-57BF-455F-B9DC-F3CBB9B25B15}">
      <dgm:prSet/>
      <dgm:spPr/>
      <dgm:t>
        <a:bodyPr/>
        <a:lstStyle/>
        <a:p>
          <a:endParaRPr lang="en-IN"/>
        </a:p>
      </dgm:t>
    </dgm:pt>
    <dgm:pt modelId="{D8AE3BF6-3134-40FB-AD32-829CC7ECEF82}">
      <dgm:prSet/>
      <dgm:spPr/>
      <dgm:t>
        <a:bodyPr/>
        <a:lstStyle/>
        <a:p>
          <a:r>
            <a:rPr lang="en-US" dirty="0"/>
            <a:t>The YES group has a </a:t>
          </a:r>
          <a:r>
            <a:rPr lang="en-US" b="1" dirty="0"/>
            <a:t>mean mental health score of 5.6</a:t>
          </a:r>
          <a:r>
            <a:rPr lang="en-US" dirty="0"/>
            <a:t>, while the NO group averages </a:t>
          </a:r>
          <a:r>
            <a:rPr lang="en-US" b="1" dirty="0"/>
            <a:t>7.4</a:t>
          </a:r>
          <a:r>
            <a:rPr lang="en-US" dirty="0"/>
            <a:t>.</a:t>
          </a:r>
          <a:endParaRPr lang="en-IN" dirty="0"/>
        </a:p>
      </dgm:t>
    </dgm:pt>
    <dgm:pt modelId="{192BDA43-DACD-43FE-A8AB-122F75A59299}" type="parTrans" cxnId="{6D86C808-8961-403D-B97B-39EE5C12C6A7}">
      <dgm:prSet/>
      <dgm:spPr/>
      <dgm:t>
        <a:bodyPr/>
        <a:lstStyle/>
        <a:p>
          <a:endParaRPr lang="en-IN"/>
        </a:p>
      </dgm:t>
    </dgm:pt>
    <dgm:pt modelId="{DDE1DB49-6D05-451B-B0FB-A13EDC9D525C}" type="sibTrans" cxnId="{6D86C808-8961-403D-B97B-39EE5C12C6A7}">
      <dgm:prSet/>
      <dgm:spPr/>
      <dgm:t>
        <a:bodyPr/>
        <a:lstStyle/>
        <a:p>
          <a:endParaRPr lang="en-IN"/>
        </a:p>
      </dgm:t>
    </dgm:pt>
    <dgm:pt modelId="{EA38DA8E-1364-4F84-917D-5FB79191FCCB}" type="pres">
      <dgm:prSet presAssocID="{7F8634DB-0B46-4EBB-ABA8-D9C17C1D1A4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A8BAC64-0273-40CD-92D1-149416EFBDBB}" type="pres">
      <dgm:prSet presAssocID="{2044F015-87A9-4CBA-904F-AB1983E4613A}" presName="circle1" presStyleLbl="node1" presStyleIdx="0" presStyleCnt="2"/>
      <dgm:spPr/>
    </dgm:pt>
    <dgm:pt modelId="{BA15EBCD-3724-49E6-878C-2BC2B926C385}" type="pres">
      <dgm:prSet presAssocID="{2044F015-87A9-4CBA-904F-AB1983E4613A}" presName="space" presStyleCnt="0"/>
      <dgm:spPr/>
    </dgm:pt>
    <dgm:pt modelId="{D98E7B36-4527-423B-A370-5A02D1DABB6F}" type="pres">
      <dgm:prSet presAssocID="{2044F015-87A9-4CBA-904F-AB1983E4613A}" presName="rect1" presStyleLbl="alignAcc1" presStyleIdx="0" presStyleCnt="2"/>
      <dgm:spPr/>
    </dgm:pt>
    <dgm:pt modelId="{28F9A7D5-9700-40D8-986D-88A0D2F5FE85}" type="pres">
      <dgm:prSet presAssocID="{D8AE3BF6-3134-40FB-AD32-829CC7ECEF82}" presName="vertSpace2" presStyleLbl="node1" presStyleIdx="0" presStyleCnt="2"/>
      <dgm:spPr/>
    </dgm:pt>
    <dgm:pt modelId="{9799938B-70D9-49DA-BB46-4D77F030413A}" type="pres">
      <dgm:prSet presAssocID="{D8AE3BF6-3134-40FB-AD32-829CC7ECEF82}" presName="circle2" presStyleLbl="node1" presStyleIdx="1" presStyleCnt="2"/>
      <dgm:spPr/>
    </dgm:pt>
    <dgm:pt modelId="{C78D9859-D0AE-46F0-AF49-90A60B47481B}" type="pres">
      <dgm:prSet presAssocID="{D8AE3BF6-3134-40FB-AD32-829CC7ECEF82}" presName="rect2" presStyleLbl="alignAcc1" presStyleIdx="1" presStyleCnt="2"/>
      <dgm:spPr/>
    </dgm:pt>
    <dgm:pt modelId="{FDFF4922-D309-4712-AA92-1BA38A57115B}" type="pres">
      <dgm:prSet presAssocID="{2044F015-87A9-4CBA-904F-AB1983E4613A}" presName="rect1ParTxNoCh" presStyleLbl="alignAcc1" presStyleIdx="1" presStyleCnt="2">
        <dgm:presLayoutVars>
          <dgm:chMax val="1"/>
          <dgm:bulletEnabled val="1"/>
        </dgm:presLayoutVars>
      </dgm:prSet>
      <dgm:spPr/>
    </dgm:pt>
    <dgm:pt modelId="{8ECB8ED1-B2D3-45B9-A980-EE48A72DD17C}" type="pres">
      <dgm:prSet presAssocID="{D8AE3BF6-3134-40FB-AD32-829CC7ECEF82}" presName="rect2ParTxNoCh" presStyleLbl="alignAcc1" presStyleIdx="1" presStyleCnt="2">
        <dgm:presLayoutVars>
          <dgm:chMax val="1"/>
          <dgm:bulletEnabled val="1"/>
        </dgm:presLayoutVars>
      </dgm:prSet>
      <dgm:spPr/>
    </dgm:pt>
  </dgm:ptLst>
  <dgm:cxnLst>
    <dgm:cxn modelId="{6D86C808-8961-403D-B97B-39EE5C12C6A7}" srcId="{7F8634DB-0B46-4EBB-ABA8-D9C17C1D1A45}" destId="{D8AE3BF6-3134-40FB-AD32-829CC7ECEF82}" srcOrd="1" destOrd="0" parTransId="{192BDA43-DACD-43FE-A8AB-122F75A59299}" sibTransId="{DDE1DB49-6D05-451B-B0FB-A13EDC9D525C}"/>
    <dgm:cxn modelId="{2610291E-6EAB-4134-A26B-9D99B0409C60}" type="presOf" srcId="{D8AE3BF6-3134-40FB-AD32-829CC7ECEF82}" destId="{8ECB8ED1-B2D3-45B9-A980-EE48A72DD17C}" srcOrd="1" destOrd="0" presId="urn:microsoft.com/office/officeart/2005/8/layout/target3"/>
    <dgm:cxn modelId="{668B883F-2753-4CFC-B321-E11425EAE1A0}" type="presOf" srcId="{D8AE3BF6-3134-40FB-AD32-829CC7ECEF82}" destId="{C78D9859-D0AE-46F0-AF49-90A60B47481B}" srcOrd="0" destOrd="0" presId="urn:microsoft.com/office/officeart/2005/8/layout/target3"/>
    <dgm:cxn modelId="{9A1CA087-95E1-4E37-9E81-28CA33925C6D}" type="presOf" srcId="{2044F015-87A9-4CBA-904F-AB1983E4613A}" destId="{D98E7B36-4527-423B-A370-5A02D1DABB6F}" srcOrd="0" destOrd="0" presId="urn:microsoft.com/office/officeart/2005/8/layout/target3"/>
    <dgm:cxn modelId="{DCDF11D3-FFCF-4153-B097-6EFB7D4C4C5B}" type="presOf" srcId="{7F8634DB-0B46-4EBB-ABA8-D9C17C1D1A45}" destId="{EA38DA8E-1364-4F84-917D-5FB79191FCCB}" srcOrd="0" destOrd="0" presId="urn:microsoft.com/office/officeart/2005/8/layout/target3"/>
    <dgm:cxn modelId="{29C7C3DF-36D3-41DF-A263-8B57FBA17573}" type="presOf" srcId="{2044F015-87A9-4CBA-904F-AB1983E4613A}" destId="{FDFF4922-D309-4712-AA92-1BA38A57115B}" srcOrd="1" destOrd="0" presId="urn:microsoft.com/office/officeart/2005/8/layout/target3"/>
    <dgm:cxn modelId="{A7F8B5F0-57BF-455F-B9DC-F3CBB9B25B15}" srcId="{7F8634DB-0B46-4EBB-ABA8-D9C17C1D1A45}" destId="{2044F015-87A9-4CBA-904F-AB1983E4613A}" srcOrd="0" destOrd="0" parTransId="{9CE2B998-C8A9-4B85-9E9A-187B151ED35A}" sibTransId="{3DC5A0E2-812C-41FF-AC2A-74F522D9B358}"/>
    <dgm:cxn modelId="{B4934CDC-8513-4CE2-89A6-DC436F2F35F6}" type="presParOf" srcId="{EA38DA8E-1364-4F84-917D-5FB79191FCCB}" destId="{BA8BAC64-0273-40CD-92D1-149416EFBDBB}" srcOrd="0" destOrd="0" presId="urn:microsoft.com/office/officeart/2005/8/layout/target3"/>
    <dgm:cxn modelId="{783D3420-8B74-4577-8234-0A175BBFB4F2}" type="presParOf" srcId="{EA38DA8E-1364-4F84-917D-5FB79191FCCB}" destId="{BA15EBCD-3724-49E6-878C-2BC2B926C385}" srcOrd="1" destOrd="0" presId="urn:microsoft.com/office/officeart/2005/8/layout/target3"/>
    <dgm:cxn modelId="{1FF9E4DF-E26C-471B-8290-7484B2B16B6D}" type="presParOf" srcId="{EA38DA8E-1364-4F84-917D-5FB79191FCCB}" destId="{D98E7B36-4527-423B-A370-5A02D1DABB6F}" srcOrd="2" destOrd="0" presId="urn:microsoft.com/office/officeart/2005/8/layout/target3"/>
    <dgm:cxn modelId="{50B66807-C58F-4369-B092-5D4A2CBE68BE}" type="presParOf" srcId="{EA38DA8E-1364-4F84-917D-5FB79191FCCB}" destId="{28F9A7D5-9700-40D8-986D-88A0D2F5FE85}" srcOrd="3" destOrd="0" presId="urn:microsoft.com/office/officeart/2005/8/layout/target3"/>
    <dgm:cxn modelId="{1736A601-FF06-40C5-A29F-F70405AFD169}" type="presParOf" srcId="{EA38DA8E-1364-4F84-917D-5FB79191FCCB}" destId="{9799938B-70D9-49DA-BB46-4D77F030413A}" srcOrd="4" destOrd="0" presId="urn:microsoft.com/office/officeart/2005/8/layout/target3"/>
    <dgm:cxn modelId="{A72CBF10-8959-48D7-8F3B-A41411D3910A}" type="presParOf" srcId="{EA38DA8E-1364-4F84-917D-5FB79191FCCB}" destId="{C78D9859-D0AE-46F0-AF49-90A60B47481B}" srcOrd="5" destOrd="0" presId="urn:microsoft.com/office/officeart/2005/8/layout/target3"/>
    <dgm:cxn modelId="{C5BD7D14-46BE-4774-9591-039C62F5697C}" type="presParOf" srcId="{EA38DA8E-1364-4F84-917D-5FB79191FCCB}" destId="{FDFF4922-D309-4712-AA92-1BA38A57115B}" srcOrd="6" destOrd="0" presId="urn:microsoft.com/office/officeart/2005/8/layout/target3"/>
    <dgm:cxn modelId="{35F31C39-3A52-424C-B3E5-116FCEC6C2BA}" type="presParOf" srcId="{EA38DA8E-1364-4F84-917D-5FB79191FCCB}" destId="{8ECB8ED1-B2D3-45B9-A980-EE48A72DD17C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8634DB-0B46-4EBB-ABA8-D9C17C1D1A45}" type="doc">
      <dgm:prSet loTypeId="urn:microsoft.com/office/officeart/2005/8/layout/target3" loCatId="relationship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044F015-87A9-4CBA-904F-AB1983E4613A}">
      <dgm:prSet/>
      <dgm:spPr/>
      <dgm:t>
        <a:bodyPr/>
        <a:lstStyle/>
        <a:p>
          <a:r>
            <a:rPr lang="en-US" b="1"/>
            <a:t>Statistical Insight:</a:t>
          </a:r>
          <a:endParaRPr lang="en-IN"/>
        </a:p>
      </dgm:t>
    </dgm:pt>
    <dgm:pt modelId="{9CE2B998-C8A9-4B85-9E9A-187B151ED35A}" type="parTrans" cxnId="{A7F8B5F0-57BF-455F-B9DC-F3CBB9B25B15}">
      <dgm:prSet/>
      <dgm:spPr/>
      <dgm:t>
        <a:bodyPr/>
        <a:lstStyle/>
        <a:p>
          <a:endParaRPr lang="en-IN"/>
        </a:p>
      </dgm:t>
    </dgm:pt>
    <dgm:pt modelId="{3DC5A0E2-812C-41FF-AC2A-74F522D9B358}" type="sibTrans" cxnId="{A7F8B5F0-57BF-455F-B9DC-F3CBB9B25B15}">
      <dgm:prSet/>
      <dgm:spPr/>
      <dgm:t>
        <a:bodyPr/>
        <a:lstStyle/>
        <a:p>
          <a:endParaRPr lang="en-IN"/>
        </a:p>
      </dgm:t>
    </dgm:pt>
    <dgm:pt modelId="{D8AE3BF6-3134-40FB-AD32-829CC7ECEF82}">
      <dgm:prSet/>
      <dgm:spPr/>
      <dgm:t>
        <a:bodyPr/>
        <a:lstStyle/>
        <a:p>
          <a:r>
            <a:rPr lang="en-US" dirty="0"/>
            <a:t>Students in a complicated relationship have addiction score </a:t>
          </a:r>
          <a:r>
            <a:rPr lang="en-US" b="1" dirty="0"/>
            <a:t>(7.03), </a:t>
          </a:r>
          <a:r>
            <a:rPr lang="en-US" dirty="0"/>
            <a:t>and single students </a:t>
          </a:r>
          <a:r>
            <a:rPr lang="en-US" b="1" dirty="0"/>
            <a:t>(6.46), </a:t>
          </a:r>
          <a:r>
            <a:rPr lang="en-US" dirty="0"/>
            <a:t>and  relationship students </a:t>
          </a:r>
          <a:r>
            <a:rPr lang="en-US" b="1" dirty="0"/>
            <a:t>(6.34).</a:t>
          </a:r>
          <a:endParaRPr lang="en-IN" b="1" dirty="0"/>
        </a:p>
      </dgm:t>
    </dgm:pt>
    <dgm:pt modelId="{192BDA43-DACD-43FE-A8AB-122F75A59299}" type="parTrans" cxnId="{6D86C808-8961-403D-B97B-39EE5C12C6A7}">
      <dgm:prSet/>
      <dgm:spPr/>
      <dgm:t>
        <a:bodyPr/>
        <a:lstStyle/>
        <a:p>
          <a:endParaRPr lang="en-IN"/>
        </a:p>
      </dgm:t>
    </dgm:pt>
    <dgm:pt modelId="{DDE1DB49-6D05-451B-B0FB-A13EDC9D525C}" type="sibTrans" cxnId="{6D86C808-8961-403D-B97B-39EE5C12C6A7}">
      <dgm:prSet/>
      <dgm:spPr/>
      <dgm:t>
        <a:bodyPr/>
        <a:lstStyle/>
        <a:p>
          <a:endParaRPr lang="en-IN"/>
        </a:p>
      </dgm:t>
    </dgm:pt>
    <dgm:pt modelId="{EA38DA8E-1364-4F84-917D-5FB79191FCCB}" type="pres">
      <dgm:prSet presAssocID="{7F8634DB-0B46-4EBB-ABA8-D9C17C1D1A4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A8BAC64-0273-40CD-92D1-149416EFBDBB}" type="pres">
      <dgm:prSet presAssocID="{2044F015-87A9-4CBA-904F-AB1983E4613A}" presName="circle1" presStyleLbl="node1" presStyleIdx="0" presStyleCnt="2"/>
      <dgm:spPr/>
    </dgm:pt>
    <dgm:pt modelId="{BA15EBCD-3724-49E6-878C-2BC2B926C385}" type="pres">
      <dgm:prSet presAssocID="{2044F015-87A9-4CBA-904F-AB1983E4613A}" presName="space" presStyleCnt="0"/>
      <dgm:spPr/>
    </dgm:pt>
    <dgm:pt modelId="{D98E7B36-4527-423B-A370-5A02D1DABB6F}" type="pres">
      <dgm:prSet presAssocID="{2044F015-87A9-4CBA-904F-AB1983E4613A}" presName="rect1" presStyleLbl="alignAcc1" presStyleIdx="0" presStyleCnt="2"/>
      <dgm:spPr/>
    </dgm:pt>
    <dgm:pt modelId="{28F9A7D5-9700-40D8-986D-88A0D2F5FE85}" type="pres">
      <dgm:prSet presAssocID="{D8AE3BF6-3134-40FB-AD32-829CC7ECEF82}" presName="vertSpace2" presStyleLbl="node1" presStyleIdx="0" presStyleCnt="2"/>
      <dgm:spPr/>
    </dgm:pt>
    <dgm:pt modelId="{9799938B-70D9-49DA-BB46-4D77F030413A}" type="pres">
      <dgm:prSet presAssocID="{D8AE3BF6-3134-40FB-AD32-829CC7ECEF82}" presName="circle2" presStyleLbl="node1" presStyleIdx="1" presStyleCnt="2"/>
      <dgm:spPr/>
    </dgm:pt>
    <dgm:pt modelId="{C78D9859-D0AE-46F0-AF49-90A60B47481B}" type="pres">
      <dgm:prSet presAssocID="{D8AE3BF6-3134-40FB-AD32-829CC7ECEF82}" presName="rect2" presStyleLbl="alignAcc1" presStyleIdx="1" presStyleCnt="2"/>
      <dgm:spPr/>
    </dgm:pt>
    <dgm:pt modelId="{FDFF4922-D309-4712-AA92-1BA38A57115B}" type="pres">
      <dgm:prSet presAssocID="{2044F015-87A9-4CBA-904F-AB1983E4613A}" presName="rect1ParTxNoCh" presStyleLbl="alignAcc1" presStyleIdx="1" presStyleCnt="2">
        <dgm:presLayoutVars>
          <dgm:chMax val="1"/>
          <dgm:bulletEnabled val="1"/>
        </dgm:presLayoutVars>
      </dgm:prSet>
      <dgm:spPr/>
    </dgm:pt>
    <dgm:pt modelId="{8ECB8ED1-B2D3-45B9-A980-EE48A72DD17C}" type="pres">
      <dgm:prSet presAssocID="{D8AE3BF6-3134-40FB-AD32-829CC7ECEF82}" presName="rect2ParTxNoCh" presStyleLbl="alignAcc1" presStyleIdx="1" presStyleCnt="2">
        <dgm:presLayoutVars>
          <dgm:chMax val="1"/>
          <dgm:bulletEnabled val="1"/>
        </dgm:presLayoutVars>
      </dgm:prSet>
      <dgm:spPr/>
    </dgm:pt>
  </dgm:ptLst>
  <dgm:cxnLst>
    <dgm:cxn modelId="{6D86C808-8961-403D-B97B-39EE5C12C6A7}" srcId="{7F8634DB-0B46-4EBB-ABA8-D9C17C1D1A45}" destId="{D8AE3BF6-3134-40FB-AD32-829CC7ECEF82}" srcOrd="1" destOrd="0" parTransId="{192BDA43-DACD-43FE-A8AB-122F75A59299}" sibTransId="{DDE1DB49-6D05-451B-B0FB-A13EDC9D525C}"/>
    <dgm:cxn modelId="{2610291E-6EAB-4134-A26B-9D99B0409C60}" type="presOf" srcId="{D8AE3BF6-3134-40FB-AD32-829CC7ECEF82}" destId="{8ECB8ED1-B2D3-45B9-A980-EE48A72DD17C}" srcOrd="1" destOrd="0" presId="urn:microsoft.com/office/officeart/2005/8/layout/target3"/>
    <dgm:cxn modelId="{668B883F-2753-4CFC-B321-E11425EAE1A0}" type="presOf" srcId="{D8AE3BF6-3134-40FB-AD32-829CC7ECEF82}" destId="{C78D9859-D0AE-46F0-AF49-90A60B47481B}" srcOrd="0" destOrd="0" presId="urn:microsoft.com/office/officeart/2005/8/layout/target3"/>
    <dgm:cxn modelId="{9A1CA087-95E1-4E37-9E81-28CA33925C6D}" type="presOf" srcId="{2044F015-87A9-4CBA-904F-AB1983E4613A}" destId="{D98E7B36-4527-423B-A370-5A02D1DABB6F}" srcOrd="0" destOrd="0" presId="urn:microsoft.com/office/officeart/2005/8/layout/target3"/>
    <dgm:cxn modelId="{DCDF11D3-FFCF-4153-B097-6EFB7D4C4C5B}" type="presOf" srcId="{7F8634DB-0B46-4EBB-ABA8-D9C17C1D1A45}" destId="{EA38DA8E-1364-4F84-917D-5FB79191FCCB}" srcOrd="0" destOrd="0" presId="urn:microsoft.com/office/officeart/2005/8/layout/target3"/>
    <dgm:cxn modelId="{29C7C3DF-36D3-41DF-A263-8B57FBA17573}" type="presOf" srcId="{2044F015-87A9-4CBA-904F-AB1983E4613A}" destId="{FDFF4922-D309-4712-AA92-1BA38A57115B}" srcOrd="1" destOrd="0" presId="urn:microsoft.com/office/officeart/2005/8/layout/target3"/>
    <dgm:cxn modelId="{A7F8B5F0-57BF-455F-B9DC-F3CBB9B25B15}" srcId="{7F8634DB-0B46-4EBB-ABA8-D9C17C1D1A45}" destId="{2044F015-87A9-4CBA-904F-AB1983E4613A}" srcOrd="0" destOrd="0" parTransId="{9CE2B998-C8A9-4B85-9E9A-187B151ED35A}" sibTransId="{3DC5A0E2-812C-41FF-AC2A-74F522D9B358}"/>
    <dgm:cxn modelId="{B4934CDC-8513-4CE2-89A6-DC436F2F35F6}" type="presParOf" srcId="{EA38DA8E-1364-4F84-917D-5FB79191FCCB}" destId="{BA8BAC64-0273-40CD-92D1-149416EFBDBB}" srcOrd="0" destOrd="0" presId="urn:microsoft.com/office/officeart/2005/8/layout/target3"/>
    <dgm:cxn modelId="{783D3420-8B74-4577-8234-0A175BBFB4F2}" type="presParOf" srcId="{EA38DA8E-1364-4F84-917D-5FB79191FCCB}" destId="{BA15EBCD-3724-49E6-878C-2BC2B926C385}" srcOrd="1" destOrd="0" presId="urn:microsoft.com/office/officeart/2005/8/layout/target3"/>
    <dgm:cxn modelId="{1FF9E4DF-E26C-471B-8290-7484B2B16B6D}" type="presParOf" srcId="{EA38DA8E-1364-4F84-917D-5FB79191FCCB}" destId="{D98E7B36-4527-423B-A370-5A02D1DABB6F}" srcOrd="2" destOrd="0" presId="urn:microsoft.com/office/officeart/2005/8/layout/target3"/>
    <dgm:cxn modelId="{50B66807-C58F-4369-B092-5D4A2CBE68BE}" type="presParOf" srcId="{EA38DA8E-1364-4F84-917D-5FB79191FCCB}" destId="{28F9A7D5-9700-40D8-986D-88A0D2F5FE85}" srcOrd="3" destOrd="0" presId="urn:microsoft.com/office/officeart/2005/8/layout/target3"/>
    <dgm:cxn modelId="{1736A601-FF06-40C5-A29F-F70405AFD169}" type="presParOf" srcId="{EA38DA8E-1364-4F84-917D-5FB79191FCCB}" destId="{9799938B-70D9-49DA-BB46-4D77F030413A}" srcOrd="4" destOrd="0" presId="urn:microsoft.com/office/officeart/2005/8/layout/target3"/>
    <dgm:cxn modelId="{A72CBF10-8959-48D7-8F3B-A41411D3910A}" type="presParOf" srcId="{EA38DA8E-1364-4F84-917D-5FB79191FCCB}" destId="{C78D9859-D0AE-46F0-AF49-90A60B47481B}" srcOrd="5" destOrd="0" presId="urn:microsoft.com/office/officeart/2005/8/layout/target3"/>
    <dgm:cxn modelId="{C5BD7D14-46BE-4774-9591-039C62F5697C}" type="presParOf" srcId="{EA38DA8E-1364-4F84-917D-5FB79191FCCB}" destId="{FDFF4922-D309-4712-AA92-1BA38A57115B}" srcOrd="6" destOrd="0" presId="urn:microsoft.com/office/officeart/2005/8/layout/target3"/>
    <dgm:cxn modelId="{35F31C39-3A52-424C-B3E5-116FCEC6C2BA}" type="presParOf" srcId="{EA38DA8E-1364-4F84-917D-5FB79191FCCB}" destId="{8ECB8ED1-B2D3-45B9-A980-EE48A72DD17C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BAC64-0273-40CD-92D1-149416EFBDBB}">
      <dsp:nvSpPr>
        <dsp:cNvPr id="0" name=""/>
        <dsp:cNvSpPr/>
      </dsp:nvSpPr>
      <dsp:spPr>
        <a:xfrm>
          <a:off x="7262" y="37244"/>
          <a:ext cx="1754326" cy="175432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8E7B36-4527-423B-A370-5A02D1DABB6F}">
      <dsp:nvSpPr>
        <dsp:cNvPr id="0" name=""/>
        <dsp:cNvSpPr/>
      </dsp:nvSpPr>
      <dsp:spPr>
        <a:xfrm>
          <a:off x="877163" y="0"/>
          <a:ext cx="3952548" cy="175432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Statistical Insight:</a:t>
          </a:r>
          <a:endParaRPr lang="en-IN" sz="1500" kern="1200"/>
        </a:p>
      </dsp:txBody>
      <dsp:txXfrm>
        <a:off x="877163" y="0"/>
        <a:ext cx="3952548" cy="833304"/>
      </dsp:txXfrm>
    </dsp:sp>
    <dsp:sp modelId="{9799938B-70D9-49DA-BB46-4D77F030413A}">
      <dsp:nvSpPr>
        <dsp:cNvPr id="0" name=""/>
        <dsp:cNvSpPr/>
      </dsp:nvSpPr>
      <dsp:spPr>
        <a:xfrm>
          <a:off x="460510" y="833304"/>
          <a:ext cx="833304" cy="83330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D9859-D0AE-46F0-AF49-90A60B47481B}">
      <dsp:nvSpPr>
        <dsp:cNvPr id="0" name=""/>
        <dsp:cNvSpPr/>
      </dsp:nvSpPr>
      <dsp:spPr>
        <a:xfrm>
          <a:off x="877163" y="833304"/>
          <a:ext cx="3952548" cy="83330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Students who reported that social media affects their academics (YES group) sleep </a:t>
          </a:r>
          <a:r>
            <a:rPr lang="en-US" sz="1500" b="1" kern="1200" dirty="0"/>
            <a:t>on average 6.3 hours</a:t>
          </a:r>
          <a:r>
            <a:rPr lang="en-US" sz="1500" kern="1200" dirty="0"/>
            <a:t>, compared to </a:t>
          </a:r>
          <a:r>
            <a:rPr lang="en-US" sz="1500" b="1" kern="1200" dirty="0"/>
            <a:t>7.8 hours</a:t>
          </a:r>
          <a:r>
            <a:rPr lang="en-US" sz="1500" kern="1200" dirty="0"/>
            <a:t> for the NO group</a:t>
          </a:r>
          <a:endParaRPr lang="en-IN" sz="1500" kern="1200" dirty="0"/>
        </a:p>
      </dsp:txBody>
      <dsp:txXfrm>
        <a:off x="877163" y="833304"/>
        <a:ext cx="3952548" cy="8333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BAC64-0273-40CD-92D1-149416EFBDBB}">
      <dsp:nvSpPr>
        <dsp:cNvPr id="0" name=""/>
        <dsp:cNvSpPr/>
      </dsp:nvSpPr>
      <dsp:spPr>
        <a:xfrm>
          <a:off x="0" y="0"/>
          <a:ext cx="1754326" cy="175432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8E7B36-4527-423B-A370-5A02D1DABB6F}">
      <dsp:nvSpPr>
        <dsp:cNvPr id="0" name=""/>
        <dsp:cNvSpPr/>
      </dsp:nvSpPr>
      <dsp:spPr>
        <a:xfrm>
          <a:off x="877163" y="0"/>
          <a:ext cx="3952548" cy="175432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Statistical Insight:</a:t>
          </a:r>
          <a:endParaRPr lang="en-IN" sz="1600" kern="1200"/>
        </a:p>
      </dsp:txBody>
      <dsp:txXfrm>
        <a:off x="877163" y="0"/>
        <a:ext cx="3952548" cy="833304"/>
      </dsp:txXfrm>
    </dsp:sp>
    <dsp:sp modelId="{9799938B-70D9-49DA-BB46-4D77F030413A}">
      <dsp:nvSpPr>
        <dsp:cNvPr id="0" name=""/>
        <dsp:cNvSpPr/>
      </dsp:nvSpPr>
      <dsp:spPr>
        <a:xfrm>
          <a:off x="460510" y="833304"/>
          <a:ext cx="833304" cy="83330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D9859-D0AE-46F0-AF49-90A60B47481B}">
      <dsp:nvSpPr>
        <dsp:cNvPr id="0" name=""/>
        <dsp:cNvSpPr/>
      </dsp:nvSpPr>
      <dsp:spPr>
        <a:xfrm>
          <a:off x="877163" y="833304"/>
          <a:ext cx="3952548" cy="83330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YES group has a </a:t>
          </a:r>
          <a:r>
            <a:rPr lang="en-US" sz="1600" b="1" kern="1200" dirty="0"/>
            <a:t>mean mental health score of 5.6</a:t>
          </a:r>
          <a:r>
            <a:rPr lang="en-US" sz="1600" kern="1200" dirty="0"/>
            <a:t>, while the NO group averages </a:t>
          </a:r>
          <a:r>
            <a:rPr lang="en-US" sz="1600" b="1" kern="1200" dirty="0"/>
            <a:t>7.4</a:t>
          </a:r>
          <a:r>
            <a:rPr lang="en-US" sz="1600" kern="1200" dirty="0"/>
            <a:t>.</a:t>
          </a:r>
          <a:endParaRPr lang="en-IN" sz="1600" kern="1200" dirty="0"/>
        </a:p>
      </dsp:txBody>
      <dsp:txXfrm>
        <a:off x="877163" y="833304"/>
        <a:ext cx="3952548" cy="8333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BAC64-0273-40CD-92D1-149416EFBDBB}">
      <dsp:nvSpPr>
        <dsp:cNvPr id="0" name=""/>
        <dsp:cNvSpPr/>
      </dsp:nvSpPr>
      <dsp:spPr>
        <a:xfrm>
          <a:off x="0" y="0"/>
          <a:ext cx="1754326" cy="175432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8E7B36-4527-423B-A370-5A02D1DABB6F}">
      <dsp:nvSpPr>
        <dsp:cNvPr id="0" name=""/>
        <dsp:cNvSpPr/>
      </dsp:nvSpPr>
      <dsp:spPr>
        <a:xfrm>
          <a:off x="877163" y="0"/>
          <a:ext cx="3952548" cy="175432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Statistical Insight:</a:t>
          </a:r>
          <a:endParaRPr lang="en-IN" sz="1600" kern="1200"/>
        </a:p>
      </dsp:txBody>
      <dsp:txXfrm>
        <a:off x="877163" y="0"/>
        <a:ext cx="3952548" cy="833304"/>
      </dsp:txXfrm>
    </dsp:sp>
    <dsp:sp modelId="{9799938B-70D9-49DA-BB46-4D77F030413A}">
      <dsp:nvSpPr>
        <dsp:cNvPr id="0" name=""/>
        <dsp:cNvSpPr/>
      </dsp:nvSpPr>
      <dsp:spPr>
        <a:xfrm>
          <a:off x="460510" y="833304"/>
          <a:ext cx="833304" cy="83330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D9859-D0AE-46F0-AF49-90A60B47481B}">
      <dsp:nvSpPr>
        <dsp:cNvPr id="0" name=""/>
        <dsp:cNvSpPr/>
      </dsp:nvSpPr>
      <dsp:spPr>
        <a:xfrm>
          <a:off x="877163" y="833304"/>
          <a:ext cx="3952548" cy="83330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Students in a complicated relationship have addiction score </a:t>
          </a:r>
          <a:r>
            <a:rPr lang="en-US" sz="1600" b="1" kern="1200" dirty="0"/>
            <a:t>(7.03), </a:t>
          </a:r>
          <a:r>
            <a:rPr lang="en-US" sz="1600" kern="1200" dirty="0"/>
            <a:t>and single students </a:t>
          </a:r>
          <a:r>
            <a:rPr lang="en-US" sz="1600" b="1" kern="1200" dirty="0"/>
            <a:t>(6.46), </a:t>
          </a:r>
          <a:r>
            <a:rPr lang="en-US" sz="1600" kern="1200" dirty="0"/>
            <a:t>and  relationship students </a:t>
          </a:r>
          <a:r>
            <a:rPr lang="en-US" sz="1600" b="1" kern="1200" dirty="0"/>
            <a:t>(6.34).</a:t>
          </a:r>
          <a:endParaRPr lang="en-IN" sz="1600" b="1" kern="1200" dirty="0"/>
        </a:p>
      </dsp:txBody>
      <dsp:txXfrm>
        <a:off x="877163" y="833304"/>
        <a:ext cx="3952548" cy="8333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1C5D0-6208-4C14-956F-D6DDFBDA503D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33142-F3A6-459B-A40D-9508A46A70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98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53545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3545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DBDBD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53545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3545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DBDBD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53545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DBDBD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53545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DBDBD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ED7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DBDBD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39999" y="1305317"/>
            <a:ext cx="720090" cy="0"/>
          </a:xfrm>
          <a:custGeom>
            <a:avLst/>
            <a:gdLst/>
            <a:ahLst/>
            <a:cxnLst/>
            <a:rect l="l" t="t" r="r" b="b"/>
            <a:pathLst>
              <a:path w="720090">
                <a:moveTo>
                  <a:pt x="0" y="0"/>
                </a:moveTo>
                <a:lnTo>
                  <a:pt x="719999" y="0"/>
                </a:lnTo>
              </a:path>
            </a:pathLst>
          </a:custGeom>
          <a:ln w="38099">
            <a:solidFill>
              <a:srgbClr val="ED7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88556" y="254652"/>
            <a:ext cx="2741415" cy="718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7300" y="370938"/>
            <a:ext cx="6687184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53545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7300" y="1623859"/>
            <a:ext cx="10671175" cy="312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3545A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57406" y="6568963"/>
            <a:ext cx="14545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DBDBDD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7.png"/><Relationship Id="rId4" Type="http://schemas.openxmlformats.org/officeDocument/2006/relationships/diagramData" Target="../diagrams/data2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9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6026253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399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6247" y="261811"/>
            <a:ext cx="2743199" cy="7186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1244139"/>
            <a:ext cx="11651466" cy="33078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7300" y="4821530"/>
            <a:ext cx="9893300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4000" dirty="0"/>
              <a:t>Students Social Media Addiction Analysis</a:t>
            </a:r>
          </a:p>
          <a:p>
            <a:pPr marL="12700">
              <a:spcBef>
                <a:spcPts val="100"/>
              </a:spcBef>
            </a:pPr>
            <a:r>
              <a:rPr lang="en-IN" sz="2400" b="1" dirty="0"/>
              <a:t>Programming Starter (PRS) – </a:t>
            </a:r>
            <a:r>
              <a:rPr lang="en-IN" sz="2400" b="1" dirty="0" err="1"/>
              <a:t>SoSe</a:t>
            </a:r>
            <a:r>
              <a:rPr lang="en-IN" sz="2400" b="1" dirty="0"/>
              <a:t> 2025</a:t>
            </a:r>
            <a:endParaRPr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832" y="6253468"/>
            <a:ext cx="184848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© 202</a:t>
            </a:r>
            <a:r>
              <a:rPr lang="en-IN" sz="110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 MT"/>
                <a:cs typeface="Arial MT"/>
              </a:rPr>
              <a:t>OTH</a:t>
            </a:r>
            <a:r>
              <a:rPr sz="11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Amberg-Weiden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A6EF2-6DEF-8FC8-B1CD-5308548E1427}"/>
              </a:ext>
            </a:extLst>
          </p:cNvPr>
          <p:cNvSpPr txBox="1"/>
          <p:nvPr/>
        </p:nvSpPr>
        <p:spPr>
          <a:xfrm>
            <a:off x="6934200" y="5613861"/>
            <a:ext cx="50292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Team No = 11</a:t>
            </a:r>
          </a:p>
          <a:p>
            <a:pPr algn="ctr"/>
            <a:endParaRPr lang="en-IN" sz="400" b="1" dirty="0">
              <a:solidFill>
                <a:schemeClr val="tx1"/>
              </a:solidFill>
            </a:endParaRPr>
          </a:p>
          <a:p>
            <a:r>
              <a:rPr lang="en-IN" sz="1800" b="1" dirty="0">
                <a:solidFill>
                  <a:schemeClr val="tx1"/>
                </a:solidFill>
              </a:rPr>
              <a:t>Team Member 1 : </a:t>
            </a:r>
            <a:r>
              <a:rPr lang="en-IN" sz="1800" b="1" dirty="0" err="1">
                <a:solidFill>
                  <a:schemeClr val="tx1"/>
                </a:solidFill>
              </a:rPr>
              <a:t>Poovallal</a:t>
            </a:r>
            <a:r>
              <a:rPr lang="en-IN" sz="1800" b="1" dirty="0">
                <a:solidFill>
                  <a:schemeClr val="tx1"/>
                </a:solidFill>
              </a:rPr>
              <a:t> </a:t>
            </a:r>
            <a:r>
              <a:rPr lang="en-IN" sz="1800" b="1" dirty="0" err="1">
                <a:solidFill>
                  <a:schemeClr val="tx1"/>
                </a:solidFill>
              </a:rPr>
              <a:t>Jayepalan</a:t>
            </a:r>
            <a:endParaRPr lang="en-IN" sz="1800" b="1" dirty="0">
              <a:solidFill>
                <a:schemeClr val="tx1"/>
              </a:solidFill>
            </a:endParaRPr>
          </a:p>
          <a:p>
            <a:r>
              <a:rPr lang="en-IN" sz="1800" b="1" dirty="0">
                <a:solidFill>
                  <a:schemeClr val="tx1"/>
                </a:solidFill>
              </a:rPr>
              <a:t>Team Member 2 : </a:t>
            </a:r>
            <a:r>
              <a:rPr lang="en-IN" sz="1800" b="1" dirty="0" err="1">
                <a:solidFill>
                  <a:schemeClr val="tx1"/>
                </a:solidFill>
              </a:rPr>
              <a:t>Somantha</a:t>
            </a:r>
            <a:r>
              <a:rPr lang="en-IN" sz="1800" b="1" dirty="0">
                <a:solidFill>
                  <a:schemeClr val="tx1"/>
                </a:solidFill>
              </a:rPr>
              <a:t> </a:t>
            </a:r>
            <a:r>
              <a:rPr lang="en-IN" sz="1800" b="1" dirty="0" err="1">
                <a:solidFill>
                  <a:schemeClr val="tx1"/>
                </a:solidFill>
              </a:rPr>
              <a:t>Manuranga</a:t>
            </a:r>
            <a:endParaRPr lang="en-IN" sz="1800" b="1" dirty="0">
              <a:solidFill>
                <a:schemeClr val="tx1"/>
              </a:solidFill>
            </a:endParaRPr>
          </a:p>
          <a:p>
            <a:r>
              <a:rPr lang="en-IN" sz="1800" b="1" dirty="0">
                <a:solidFill>
                  <a:schemeClr val="tx1"/>
                </a:solidFill>
              </a:rPr>
              <a:t>Team Member 3 : Sai Pavan </a:t>
            </a:r>
            <a:r>
              <a:rPr lang="en-IN" sz="1800" b="1" dirty="0" err="1">
                <a:solidFill>
                  <a:schemeClr val="tx1"/>
                </a:solidFill>
              </a:rPr>
              <a:t>Bolgani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32E5-1006-6028-6AF8-971D6C6A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2D13D8-AAD0-9A39-ED03-15180209FD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Research Question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577DE68-4865-8CB3-25E5-8CB721459E94}"/>
              </a:ext>
            </a:extLst>
          </p:cNvPr>
          <p:cNvSpPr txBox="1"/>
          <p:nvPr/>
        </p:nvSpPr>
        <p:spPr>
          <a:xfrm>
            <a:off x="527300" y="6568963"/>
            <a:ext cx="1316355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Präsentationstitel</a:t>
            </a:r>
            <a:r>
              <a:rPr sz="800" spc="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|</a:t>
            </a:r>
            <a:r>
              <a:rPr sz="800" spc="10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Verfasser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5C676F6-3D00-35C3-E7FD-7E6043F39292}"/>
              </a:ext>
            </a:extLst>
          </p:cNvPr>
          <p:cNvSpPr txBox="1"/>
          <p:nvPr/>
        </p:nvSpPr>
        <p:spPr>
          <a:xfrm>
            <a:off x="10443471" y="6568963"/>
            <a:ext cx="861060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1.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November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DBDBDD"/>
                </a:solidFill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9B59999-E2B1-B57F-D2CF-0FC1EBB3DB9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A5D7A-61E2-8D63-DE6D-586C96985A30}"/>
              </a:ext>
            </a:extLst>
          </p:cNvPr>
          <p:cNvSpPr txBox="1"/>
          <p:nvPr/>
        </p:nvSpPr>
        <p:spPr>
          <a:xfrm>
            <a:off x="527300" y="1600200"/>
            <a:ext cx="110301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students who report that social media affects their academic performance also: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Sleep fewer hours?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Report poorer mental health?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addiction levels across relationship statuses?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question explores whether academic stress due to social media is linked to other lifestyle disruptions.</a:t>
            </a:r>
          </a:p>
        </p:txBody>
      </p:sp>
    </p:spTree>
    <p:extLst>
      <p:ext uri="{BB962C8B-B14F-4D97-AF65-F5344CB8AC3E}">
        <p14:creationId xmlns:p14="http://schemas.microsoft.com/office/powerpoint/2010/main" val="3805930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D696B-19B2-FA96-B8A9-50B93128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8D5CC1-2310-0BB5-9400-C71FB265D5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Background and Motivation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1DC2FE3-36F2-7B78-2C39-ADAD601F9A30}"/>
              </a:ext>
            </a:extLst>
          </p:cNvPr>
          <p:cNvSpPr txBox="1"/>
          <p:nvPr/>
        </p:nvSpPr>
        <p:spPr>
          <a:xfrm>
            <a:off x="527300" y="6568963"/>
            <a:ext cx="1316355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Präsentationstitel</a:t>
            </a:r>
            <a:r>
              <a:rPr sz="800" spc="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|</a:t>
            </a:r>
            <a:r>
              <a:rPr sz="800" spc="10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Verfasser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3123367-9594-CD4D-9866-26EF0F8A1FD4}"/>
              </a:ext>
            </a:extLst>
          </p:cNvPr>
          <p:cNvSpPr txBox="1"/>
          <p:nvPr/>
        </p:nvSpPr>
        <p:spPr>
          <a:xfrm>
            <a:off x="10443471" y="6568963"/>
            <a:ext cx="861060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1.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November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DBDBDD"/>
                </a:solidFill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D1A3F57-1251-70DD-D829-31C85FBFE38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BE50E-9453-1779-FE12-B7E2121C59FC}"/>
              </a:ext>
            </a:extLst>
          </p:cNvPr>
          <p:cNvSpPr txBox="1"/>
          <p:nvPr/>
        </p:nvSpPr>
        <p:spPr>
          <a:xfrm>
            <a:off x="527300" y="1600200"/>
            <a:ext cx="1124566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With the rising use of social media among students, questions arise about its side effects on academic success and personal well-being.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analysis explores whether students who feel that social media negatively affects their academic performance also experience disruptions in other areas of life, such as: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Reduced sleep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Increased mental stress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Addicted Score grouped by Relationship Status.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Goal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Investigate if students who feel academically affected also face more lifestyle disruptions.</a:t>
            </a:r>
          </a:p>
        </p:txBody>
      </p:sp>
    </p:spTree>
    <p:extLst>
      <p:ext uri="{BB962C8B-B14F-4D97-AF65-F5344CB8AC3E}">
        <p14:creationId xmlns:p14="http://schemas.microsoft.com/office/powerpoint/2010/main" val="417061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4E60B-E72E-1F61-1D5C-1E9D8EA2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C8BBB7-F63F-9F5F-BD15-18AF53AAD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Dataset and Variables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D8F561E-8C65-DE20-034C-D6721FFBB30B}"/>
              </a:ext>
            </a:extLst>
          </p:cNvPr>
          <p:cNvSpPr txBox="1"/>
          <p:nvPr/>
        </p:nvSpPr>
        <p:spPr>
          <a:xfrm>
            <a:off x="527300" y="6568963"/>
            <a:ext cx="1316355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Präsentationstitel</a:t>
            </a:r>
            <a:r>
              <a:rPr sz="800" spc="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|</a:t>
            </a:r>
            <a:r>
              <a:rPr sz="800" spc="10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Verfasser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E037C10-A098-E3F2-372F-71305EEDA7DF}"/>
              </a:ext>
            </a:extLst>
          </p:cNvPr>
          <p:cNvSpPr txBox="1"/>
          <p:nvPr/>
        </p:nvSpPr>
        <p:spPr>
          <a:xfrm>
            <a:off x="10443471" y="6568963"/>
            <a:ext cx="861060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1.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November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DBDBDD"/>
                </a:solidFill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36EF970-4158-9CAF-D8C3-51A2E509855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6A6A6-23EE-F75B-5230-3F92891EC6D6}"/>
              </a:ext>
            </a:extLst>
          </p:cNvPr>
          <p:cNvSpPr txBox="1"/>
          <p:nvPr/>
        </p:nvSpPr>
        <p:spPr>
          <a:xfrm>
            <a:off x="532380" y="1600200"/>
            <a:ext cx="815442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Dataset of 705 student responses from multiple countries.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Key variable: '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Affects_Academic_Performance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' (Yes/No)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Compared groups across:</a:t>
            </a:r>
          </a:p>
          <a:p>
            <a:pPr marL="950913" lvl="8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Sleep Hours per Night</a:t>
            </a:r>
          </a:p>
          <a:p>
            <a:pPr marL="950913" lvl="8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Mental Health Score (scale of 1–10)</a:t>
            </a:r>
          </a:p>
          <a:p>
            <a:pPr marL="950913" lvl="8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Addicted Score by Relationship Status (scale of 1–10)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Used pandas, seaborn, and matplotlib in Python for analysis.</a:t>
            </a:r>
          </a:p>
        </p:txBody>
      </p:sp>
    </p:spTree>
    <p:extLst>
      <p:ext uri="{BB962C8B-B14F-4D97-AF65-F5344CB8AC3E}">
        <p14:creationId xmlns:p14="http://schemas.microsoft.com/office/powerpoint/2010/main" val="56047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3C95F-3C37-3C37-ABE5-853FB491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BEE3F96-CB90-99A0-E798-B10D812E7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Applied Methods</a:t>
            </a:r>
            <a:endParaRPr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2BDEECA-7F2D-6518-73CD-4F0B4EBFBC87}"/>
              </a:ext>
            </a:extLst>
          </p:cNvPr>
          <p:cNvSpPr txBox="1"/>
          <p:nvPr/>
        </p:nvSpPr>
        <p:spPr>
          <a:xfrm>
            <a:off x="527300" y="6568963"/>
            <a:ext cx="1316355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Präsentationstitel</a:t>
            </a:r>
            <a:r>
              <a:rPr sz="800" spc="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|</a:t>
            </a:r>
            <a:r>
              <a:rPr sz="800" spc="10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Verfasser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E714074-3DBE-A60D-8BF5-5603D489431D}"/>
              </a:ext>
            </a:extLst>
          </p:cNvPr>
          <p:cNvSpPr txBox="1"/>
          <p:nvPr/>
        </p:nvSpPr>
        <p:spPr>
          <a:xfrm>
            <a:off x="10443471" y="6568963"/>
            <a:ext cx="861060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1.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November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DBDBDD"/>
                </a:solidFill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9A8A20C-1CD3-B616-00F5-A3E50AC59BE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ABED-B0CB-AF70-3DD7-5CD14396B624}"/>
              </a:ext>
            </a:extLst>
          </p:cNvPr>
          <p:cNvSpPr txBox="1"/>
          <p:nvPr/>
        </p:nvSpPr>
        <p:spPr>
          <a:xfrm>
            <a:off x="527299" y="1524000"/>
            <a:ext cx="9916171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Split the dataset into two groups based on academic impact (Yes vs No)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Used:</a:t>
            </a:r>
          </a:p>
          <a:p>
            <a:pPr marL="1042988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Boxplots to visualize group distributions</a:t>
            </a:r>
          </a:p>
          <a:p>
            <a:pPr marL="1042988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Descriptive statistics: mean, median, IQR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Compared results across Sleep, Mental Health, Addiction Score by Relationship Status.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Interpreted visual differences and extracted insights.</a:t>
            </a:r>
          </a:p>
        </p:txBody>
      </p:sp>
    </p:spTree>
    <p:extLst>
      <p:ext uri="{BB962C8B-B14F-4D97-AF65-F5344CB8AC3E}">
        <p14:creationId xmlns:p14="http://schemas.microsoft.com/office/powerpoint/2010/main" val="57904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C877A-23DF-87BD-3F65-87B718024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92B72A-741D-37A9-33B0-6E9D270AD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6167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10" dirty="0"/>
              <a:t>Results on </a:t>
            </a:r>
            <a:r>
              <a:rPr lang="en-US" sz="2000" dirty="0"/>
              <a:t>Sleep Hours Distribution by Academic Impact Group</a:t>
            </a:r>
            <a:endParaRPr sz="2000"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937FA78-0839-440B-5E47-8048D235ACAD}"/>
              </a:ext>
            </a:extLst>
          </p:cNvPr>
          <p:cNvSpPr txBox="1"/>
          <p:nvPr/>
        </p:nvSpPr>
        <p:spPr>
          <a:xfrm>
            <a:off x="527300" y="6568963"/>
            <a:ext cx="1316355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Präsentationstitel</a:t>
            </a:r>
            <a:r>
              <a:rPr sz="800" spc="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|</a:t>
            </a:r>
            <a:r>
              <a:rPr sz="800" spc="10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Verfasser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B27562A-2782-38E3-76E1-0C97C2E3D7BE}"/>
              </a:ext>
            </a:extLst>
          </p:cNvPr>
          <p:cNvSpPr txBox="1"/>
          <p:nvPr/>
        </p:nvSpPr>
        <p:spPr>
          <a:xfrm>
            <a:off x="10443471" y="6568963"/>
            <a:ext cx="861060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1.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November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DBDBDD"/>
                </a:solidFill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4CB4B61-9150-7CF0-0D80-DB6770C656B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4802CC-C480-64E4-33E1-3AD278C0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0" y="1818424"/>
            <a:ext cx="4829711" cy="3529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CC2EB-1ADF-C73D-5868-E3510BDDA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14800"/>
            <a:ext cx="5363462" cy="16572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542128-DE29-3AD2-8C7C-477651267063}"/>
              </a:ext>
            </a:extLst>
          </p:cNvPr>
          <p:cNvSpPr txBox="1"/>
          <p:nvPr/>
        </p:nvSpPr>
        <p:spPr>
          <a:xfrm>
            <a:off x="873250" y="5358112"/>
            <a:ext cx="396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Figure 1. Sleep Hours Distribution by Academic Impact Group</a:t>
            </a:r>
            <a:endParaRPr lang="en-IN" sz="14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1E1E3D4F-7985-100D-DA42-E5F99DCBE7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6320488"/>
              </p:ext>
            </p:extLst>
          </p:nvPr>
        </p:nvGraphicFramePr>
        <p:xfrm>
          <a:off x="6469740" y="1828800"/>
          <a:ext cx="4829711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70499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9D228-0529-779E-808A-896F49CF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6ABA64-7A69-5BAB-4154-C535DD35E0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357822"/>
            <a:ext cx="90285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10" dirty="0"/>
              <a:t>Results on </a:t>
            </a:r>
            <a:r>
              <a:rPr lang="en-US" sz="2000" dirty="0"/>
              <a:t>Mental Health Score Distribution by Academic Impact Group</a:t>
            </a:r>
            <a:endParaRPr sz="2000"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9367B6E-2496-DCB9-57F6-7C3481556D2D}"/>
              </a:ext>
            </a:extLst>
          </p:cNvPr>
          <p:cNvSpPr txBox="1"/>
          <p:nvPr/>
        </p:nvSpPr>
        <p:spPr>
          <a:xfrm>
            <a:off x="527300" y="6568963"/>
            <a:ext cx="1316355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Präsentationstitel</a:t>
            </a:r>
            <a:r>
              <a:rPr sz="800" spc="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|</a:t>
            </a:r>
            <a:r>
              <a:rPr sz="800" spc="10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Verfasser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37C5CA3-FE82-5F57-C036-ACA6F7206625}"/>
              </a:ext>
            </a:extLst>
          </p:cNvPr>
          <p:cNvSpPr txBox="1"/>
          <p:nvPr/>
        </p:nvSpPr>
        <p:spPr>
          <a:xfrm>
            <a:off x="10443471" y="6568963"/>
            <a:ext cx="861060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1.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November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DBDBDD"/>
                </a:solidFill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5DB1615-74A9-2189-D078-34EAB5DD070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F7C10-DD2D-45E8-E029-1BF53C4F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0" y="1664298"/>
            <a:ext cx="4829711" cy="3529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073984-9286-54DF-CF89-98A8D50A5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14800"/>
            <a:ext cx="5363462" cy="16572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6B966E-FF83-F3E7-6582-634D46706599}"/>
              </a:ext>
            </a:extLst>
          </p:cNvPr>
          <p:cNvSpPr txBox="1"/>
          <p:nvPr/>
        </p:nvSpPr>
        <p:spPr>
          <a:xfrm>
            <a:off x="732537" y="5262487"/>
            <a:ext cx="45250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Figure 2. Mental Health Score Distribution by Academic Impact Group</a:t>
            </a:r>
            <a:endParaRPr lang="en-IN" sz="14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57D19B2F-7761-323A-37BE-0118D1BB3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0177612"/>
              </p:ext>
            </p:extLst>
          </p:nvPr>
        </p:nvGraphicFramePr>
        <p:xfrm>
          <a:off x="6469740" y="1828800"/>
          <a:ext cx="4829711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1F45F51-28E0-AE0B-D561-35ADFF96BC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301" y="1705063"/>
            <a:ext cx="4829710" cy="35166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A2E172-E044-C1C9-5A63-74B08CEBC3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1560" y="4183853"/>
            <a:ext cx="4971556" cy="160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95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1F8E7-71D9-527F-B590-1B7377D36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1381B7-3089-4810-9529-80DCEDE57C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357822"/>
            <a:ext cx="90285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10" dirty="0"/>
              <a:t>Results on </a:t>
            </a:r>
            <a:r>
              <a:rPr lang="en-US" sz="2000" dirty="0"/>
              <a:t>Addiction Score Distribution by Relationship Status</a:t>
            </a:r>
            <a:endParaRPr sz="2000" spc="-1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59174D4-3F65-C0F6-ABC3-645F28AAC3DF}"/>
              </a:ext>
            </a:extLst>
          </p:cNvPr>
          <p:cNvSpPr txBox="1"/>
          <p:nvPr/>
        </p:nvSpPr>
        <p:spPr>
          <a:xfrm>
            <a:off x="527300" y="6568963"/>
            <a:ext cx="1316355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Präsentationstitel</a:t>
            </a:r>
            <a:r>
              <a:rPr sz="800" spc="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|</a:t>
            </a:r>
            <a:r>
              <a:rPr sz="800" spc="10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DBDBDD"/>
                </a:solidFill>
                <a:latin typeface="Arial MT"/>
                <a:cs typeface="Arial MT"/>
              </a:rPr>
              <a:t>Verfasser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8156761-C4E3-59EC-615D-B2377857426A}"/>
              </a:ext>
            </a:extLst>
          </p:cNvPr>
          <p:cNvSpPr txBox="1"/>
          <p:nvPr/>
        </p:nvSpPr>
        <p:spPr>
          <a:xfrm>
            <a:off x="10443471" y="6568963"/>
            <a:ext cx="861060" cy="139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1.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DBDBDD"/>
                </a:solidFill>
                <a:latin typeface="Arial MT"/>
                <a:cs typeface="Arial MT"/>
              </a:rPr>
              <a:t>November</a:t>
            </a:r>
            <a:r>
              <a:rPr sz="800" spc="-35" dirty="0">
                <a:solidFill>
                  <a:srgbClr val="DBDBDD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DBDBDD"/>
                </a:solidFill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4C0768D-93E0-7706-6CA2-5956B9EAB30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AE52EC-D784-5A94-2A3A-A3DA80056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114800"/>
            <a:ext cx="5363462" cy="16572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9CA15A-0FFD-0201-8A5A-9357D711B994}"/>
              </a:ext>
            </a:extLst>
          </p:cNvPr>
          <p:cNvSpPr txBox="1"/>
          <p:nvPr/>
        </p:nvSpPr>
        <p:spPr>
          <a:xfrm>
            <a:off x="732537" y="5262487"/>
            <a:ext cx="45250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Figure 3. Addiction Score by Relationship Status</a:t>
            </a:r>
            <a:endParaRPr lang="en-IN" sz="14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C9F024E1-BD15-E524-4CF0-BEB1757923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1568945"/>
              </p:ext>
            </p:extLst>
          </p:nvPr>
        </p:nvGraphicFramePr>
        <p:xfrm>
          <a:off x="6469740" y="1828800"/>
          <a:ext cx="4829711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393CE359-3BED-22CF-4DF3-396E778D0C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1560" y="4183853"/>
            <a:ext cx="4971556" cy="1601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B76EB3-9C9F-52FC-4E92-1D8A7167218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2525" r="-864"/>
          <a:stretch>
            <a:fillRect/>
          </a:stretch>
        </p:blipFill>
        <p:spPr>
          <a:xfrm>
            <a:off x="685800" y="1556447"/>
            <a:ext cx="4580956" cy="36856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B80735-AB84-4EA7-1538-546A534EBB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1201" y="4229198"/>
            <a:ext cx="5311916" cy="15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59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Conclusion</a:t>
            </a:r>
            <a:endParaRPr spc="-1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B918B4-BE99-0AEC-F803-7C0F8FC40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300" y="1623859"/>
            <a:ext cx="10671175" cy="2857192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pattern of co-occurring issues in affected students: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Reduced sleep duration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Lower mental health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addiction scores </a:t>
            </a:r>
            <a:r>
              <a:rPr lang="en-US" dirty="0"/>
              <a:t>especially among single and complicated relationship groups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impact due to social media is part of a larger lifestyle issue.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insights can help in targeting digital wellness initiatives in student communities.</a:t>
            </a:r>
          </a:p>
          <a:p>
            <a:pPr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3293-B5CA-02B9-2B15-57A07022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3C38D49-AF6B-20EF-8FE6-69F4C785760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F6A3D80-7F33-D759-9E90-47067469AA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References</a:t>
            </a:r>
            <a:endParaRPr spc="-1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125811-4E89-594E-761E-68FF43120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300" y="1623859"/>
            <a:ext cx="10671175" cy="410368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Shamim, A. (2025) </a:t>
            </a:r>
            <a:r>
              <a:rPr lang="en-US" i="1" dirty="0">
                <a:solidFill>
                  <a:schemeClr val="tx1"/>
                </a:solidFill>
              </a:rPr>
              <a:t>Students’ social media addiction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>
                <a:solidFill>
                  <a:schemeClr val="tx1"/>
                </a:solidFill>
              </a:rPr>
              <a:t>Kaggle</a:t>
            </a:r>
            <a:r>
              <a:rPr lang="en-US" dirty="0">
                <a:solidFill>
                  <a:schemeClr val="tx1"/>
                </a:solidFill>
              </a:rPr>
              <a:t>. Available at: https://www.kaggle.com/datasets/adilshamim8/social-media-addiction-vs-relationships (Accessed: 30 June 2025).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VanderPlas, J. (no date) </a:t>
            </a:r>
            <a:r>
              <a:rPr lang="en-US" i="1" dirty="0">
                <a:solidFill>
                  <a:schemeClr val="tx1"/>
                </a:solidFill>
              </a:rPr>
              <a:t>Visualization with Seaborn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>
                <a:solidFill>
                  <a:schemeClr val="tx1"/>
                </a:solidFill>
              </a:rPr>
              <a:t>Visualization with Seaborn | Python Data Science Handbook</a:t>
            </a:r>
            <a:r>
              <a:rPr lang="en-US" dirty="0">
                <a:solidFill>
                  <a:schemeClr val="tx1"/>
                </a:solidFill>
              </a:rPr>
              <a:t>. Available at: https://jakevdp.github.io/PythonDataScienceHandbook/04.14-visualization-with-seaborn.html (Accessed: 30 June 2025).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Habib, J.M. (2024) </a:t>
            </a:r>
            <a:r>
              <a:rPr lang="en-US" i="1" dirty="0">
                <a:solidFill>
                  <a:schemeClr val="tx1"/>
                </a:solidFill>
              </a:rPr>
              <a:t>Choosing the right tool: Matplotlib vs. Pandas vs. Seaborn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i="1" dirty="0">
                <a:solidFill>
                  <a:schemeClr val="tx1"/>
                </a:solidFill>
              </a:rPr>
              <a:t>Medium</a:t>
            </a:r>
            <a:r>
              <a:rPr lang="en-US" dirty="0">
                <a:solidFill>
                  <a:schemeClr val="tx1"/>
                </a:solidFill>
              </a:rPr>
              <a:t>. Available at: https://medium.com/@jaberi.mohamedhabib/choosing-the-right-tool-matplotlib-vs-pandas-vs-seaborn-4468b6b3c0a5 (Accessed: 30 June 2025).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232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8171" y="0"/>
            <a:ext cx="3133090" cy="3092450"/>
            <a:chOff x="538171" y="0"/>
            <a:chExt cx="3133090" cy="3092450"/>
          </a:xfrm>
        </p:grpSpPr>
        <p:sp>
          <p:nvSpPr>
            <p:cNvPr id="3" name="object 3"/>
            <p:cNvSpPr/>
            <p:nvPr/>
          </p:nvSpPr>
          <p:spPr>
            <a:xfrm>
              <a:off x="538171" y="0"/>
              <a:ext cx="865505" cy="3092450"/>
            </a:xfrm>
            <a:custGeom>
              <a:avLst/>
              <a:gdLst/>
              <a:ahLst/>
              <a:cxnLst/>
              <a:rect l="l" t="t" r="r" b="b"/>
              <a:pathLst>
                <a:path w="865505" h="3092450">
                  <a:moveTo>
                    <a:pt x="432523" y="3092338"/>
                  </a:moveTo>
                  <a:lnTo>
                    <a:pt x="383719" y="3089578"/>
                  </a:lnTo>
                  <a:lnTo>
                    <a:pt x="335913" y="3081412"/>
                  </a:lnTo>
                  <a:lnTo>
                    <a:pt x="289530" y="3068018"/>
                  </a:lnTo>
                  <a:lnTo>
                    <a:pt x="244991" y="3049570"/>
                  </a:lnTo>
                  <a:lnTo>
                    <a:pt x="202722" y="3026243"/>
                  </a:lnTo>
                  <a:lnTo>
                    <a:pt x="163145" y="2998213"/>
                  </a:lnTo>
                  <a:lnTo>
                    <a:pt x="126683" y="2965655"/>
                  </a:lnTo>
                  <a:lnTo>
                    <a:pt x="94125" y="2929193"/>
                  </a:lnTo>
                  <a:lnTo>
                    <a:pt x="66095" y="2889616"/>
                  </a:lnTo>
                  <a:lnTo>
                    <a:pt x="42768" y="2847347"/>
                  </a:lnTo>
                  <a:lnTo>
                    <a:pt x="24320" y="2802808"/>
                  </a:lnTo>
                  <a:lnTo>
                    <a:pt x="10926" y="2756425"/>
                  </a:lnTo>
                  <a:lnTo>
                    <a:pt x="2760" y="2708619"/>
                  </a:lnTo>
                  <a:lnTo>
                    <a:pt x="0" y="2659815"/>
                  </a:lnTo>
                  <a:lnTo>
                    <a:pt x="0" y="0"/>
                  </a:lnTo>
                  <a:lnTo>
                    <a:pt x="865046" y="0"/>
                  </a:lnTo>
                  <a:lnTo>
                    <a:pt x="865046" y="2659815"/>
                  </a:lnTo>
                  <a:lnTo>
                    <a:pt x="862509" y="2706943"/>
                  </a:lnTo>
                  <a:lnTo>
                    <a:pt x="855070" y="2752601"/>
                  </a:lnTo>
                  <a:lnTo>
                    <a:pt x="842996" y="2796526"/>
                  </a:lnTo>
                  <a:lnTo>
                    <a:pt x="826550" y="2838453"/>
                  </a:lnTo>
                  <a:lnTo>
                    <a:pt x="805994" y="2878118"/>
                  </a:lnTo>
                  <a:lnTo>
                    <a:pt x="781595" y="2915258"/>
                  </a:lnTo>
                  <a:lnTo>
                    <a:pt x="753614" y="2949608"/>
                  </a:lnTo>
                  <a:lnTo>
                    <a:pt x="722316" y="2980906"/>
                  </a:lnTo>
                  <a:lnTo>
                    <a:pt x="687966" y="3008887"/>
                  </a:lnTo>
                  <a:lnTo>
                    <a:pt x="650826" y="3033286"/>
                  </a:lnTo>
                  <a:lnTo>
                    <a:pt x="611161" y="3053841"/>
                  </a:lnTo>
                  <a:lnTo>
                    <a:pt x="569234" y="3070288"/>
                  </a:lnTo>
                  <a:lnTo>
                    <a:pt x="525309" y="3082362"/>
                  </a:lnTo>
                  <a:lnTo>
                    <a:pt x="479651" y="3089800"/>
                  </a:lnTo>
                  <a:lnTo>
                    <a:pt x="432523" y="3092338"/>
                  </a:lnTo>
                  <a:close/>
                </a:path>
              </a:pathLst>
            </a:custGeom>
            <a:solidFill>
              <a:srgbClr val="FFA85B">
                <a:alpha val="8392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3215" y="1603925"/>
              <a:ext cx="865505" cy="865505"/>
            </a:xfrm>
            <a:custGeom>
              <a:avLst/>
              <a:gdLst/>
              <a:ahLst/>
              <a:cxnLst/>
              <a:rect l="l" t="t" r="r" b="b"/>
              <a:pathLst>
                <a:path w="865505" h="865505">
                  <a:moveTo>
                    <a:pt x="432526" y="864913"/>
                  </a:moveTo>
                  <a:lnTo>
                    <a:pt x="385397" y="862375"/>
                  </a:lnTo>
                  <a:lnTo>
                    <a:pt x="339739" y="854938"/>
                  </a:lnTo>
                  <a:lnTo>
                    <a:pt x="295814" y="842866"/>
                  </a:lnTo>
                  <a:lnTo>
                    <a:pt x="253887" y="826422"/>
                  </a:lnTo>
                  <a:lnTo>
                    <a:pt x="214221" y="805870"/>
                  </a:lnTo>
                  <a:lnTo>
                    <a:pt x="177081" y="781474"/>
                  </a:lnTo>
                  <a:lnTo>
                    <a:pt x="142730" y="753497"/>
                  </a:lnTo>
                  <a:lnTo>
                    <a:pt x="111433" y="722205"/>
                  </a:lnTo>
                  <a:lnTo>
                    <a:pt x="83452" y="687859"/>
                  </a:lnTo>
                  <a:lnTo>
                    <a:pt x="59052" y="650725"/>
                  </a:lnTo>
                  <a:lnTo>
                    <a:pt x="38497" y="611066"/>
                  </a:lnTo>
                  <a:lnTo>
                    <a:pt x="22050" y="569146"/>
                  </a:lnTo>
                  <a:lnTo>
                    <a:pt x="9976" y="525228"/>
                  </a:lnTo>
                  <a:lnTo>
                    <a:pt x="2538" y="479577"/>
                  </a:lnTo>
                  <a:lnTo>
                    <a:pt x="0" y="432456"/>
                  </a:lnTo>
                  <a:lnTo>
                    <a:pt x="40" y="378724"/>
                  </a:lnTo>
                  <a:lnTo>
                    <a:pt x="162" y="324993"/>
                  </a:lnTo>
                  <a:lnTo>
                    <a:pt x="273" y="295766"/>
                  </a:lnTo>
                  <a:lnTo>
                    <a:pt x="366" y="271261"/>
                  </a:lnTo>
                  <a:lnTo>
                    <a:pt x="650" y="217530"/>
                  </a:lnTo>
                  <a:lnTo>
                    <a:pt x="926" y="177053"/>
                  </a:lnTo>
                  <a:lnTo>
                    <a:pt x="1017" y="163798"/>
                  </a:lnTo>
                  <a:lnTo>
                    <a:pt x="1453" y="111415"/>
                  </a:lnTo>
                  <a:lnTo>
                    <a:pt x="1966" y="59042"/>
                  </a:lnTo>
                  <a:lnTo>
                    <a:pt x="2520" y="9974"/>
                  </a:lnTo>
                  <a:lnTo>
                    <a:pt x="368037" y="0"/>
                  </a:lnTo>
                  <a:lnTo>
                    <a:pt x="432526" y="0"/>
                  </a:lnTo>
                  <a:lnTo>
                    <a:pt x="479654" y="2537"/>
                  </a:lnTo>
                  <a:lnTo>
                    <a:pt x="525313" y="9974"/>
                  </a:lnTo>
                  <a:lnTo>
                    <a:pt x="569237" y="22046"/>
                  </a:lnTo>
                  <a:lnTo>
                    <a:pt x="611164" y="38491"/>
                  </a:lnTo>
                  <a:lnTo>
                    <a:pt x="650830" y="59042"/>
                  </a:lnTo>
                  <a:lnTo>
                    <a:pt x="687970" y="83439"/>
                  </a:lnTo>
                  <a:lnTo>
                    <a:pt x="722321" y="111415"/>
                  </a:lnTo>
                  <a:lnTo>
                    <a:pt x="753619" y="142708"/>
                  </a:lnTo>
                  <a:lnTo>
                    <a:pt x="781599" y="177053"/>
                  </a:lnTo>
                  <a:lnTo>
                    <a:pt x="805999" y="214187"/>
                  </a:lnTo>
                  <a:lnTo>
                    <a:pt x="826555" y="253846"/>
                  </a:lnTo>
                  <a:lnTo>
                    <a:pt x="843001" y="295766"/>
                  </a:lnTo>
                  <a:lnTo>
                    <a:pt x="855076" y="339684"/>
                  </a:lnTo>
                  <a:lnTo>
                    <a:pt x="862514" y="385335"/>
                  </a:lnTo>
                  <a:lnTo>
                    <a:pt x="865052" y="432456"/>
                  </a:lnTo>
                  <a:lnTo>
                    <a:pt x="862514" y="479577"/>
                  </a:lnTo>
                  <a:lnTo>
                    <a:pt x="855076" y="525228"/>
                  </a:lnTo>
                  <a:lnTo>
                    <a:pt x="843001" y="569146"/>
                  </a:lnTo>
                  <a:lnTo>
                    <a:pt x="826555" y="611066"/>
                  </a:lnTo>
                  <a:lnTo>
                    <a:pt x="805999" y="650725"/>
                  </a:lnTo>
                  <a:lnTo>
                    <a:pt x="781599" y="687859"/>
                  </a:lnTo>
                  <a:lnTo>
                    <a:pt x="753619" y="722205"/>
                  </a:lnTo>
                  <a:lnTo>
                    <a:pt x="722321" y="753497"/>
                  </a:lnTo>
                  <a:lnTo>
                    <a:pt x="687970" y="781474"/>
                  </a:lnTo>
                  <a:lnTo>
                    <a:pt x="650830" y="805870"/>
                  </a:lnTo>
                  <a:lnTo>
                    <a:pt x="611164" y="826422"/>
                  </a:lnTo>
                  <a:lnTo>
                    <a:pt x="569237" y="842866"/>
                  </a:lnTo>
                  <a:lnTo>
                    <a:pt x="525313" y="854938"/>
                  </a:lnTo>
                  <a:lnTo>
                    <a:pt x="479654" y="862375"/>
                  </a:lnTo>
                  <a:lnTo>
                    <a:pt x="432526" y="864913"/>
                  </a:lnTo>
                  <a:close/>
                </a:path>
              </a:pathLst>
            </a:custGeom>
            <a:solidFill>
              <a:srgbClr val="FDC4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3215" y="738873"/>
              <a:ext cx="2268220" cy="865505"/>
            </a:xfrm>
            <a:custGeom>
              <a:avLst/>
              <a:gdLst/>
              <a:ahLst/>
              <a:cxnLst/>
              <a:rect l="l" t="t" r="r" b="b"/>
              <a:pathLst>
                <a:path w="2268220" h="865505">
                  <a:moveTo>
                    <a:pt x="2267922" y="865052"/>
                  </a:moveTo>
                  <a:lnTo>
                    <a:pt x="0" y="865052"/>
                  </a:lnTo>
                  <a:lnTo>
                    <a:pt x="0" y="421098"/>
                  </a:lnTo>
                  <a:lnTo>
                    <a:pt x="2687" y="373583"/>
                  </a:lnTo>
                  <a:lnTo>
                    <a:pt x="10637" y="327041"/>
                  </a:lnTo>
                  <a:lnTo>
                    <a:pt x="23678" y="281882"/>
                  </a:lnTo>
                  <a:lnTo>
                    <a:pt x="41639" y="238520"/>
                  </a:lnTo>
                  <a:lnTo>
                    <a:pt x="64349" y="197367"/>
                  </a:lnTo>
                  <a:lnTo>
                    <a:pt x="91639" y="158835"/>
                  </a:lnTo>
                  <a:lnTo>
                    <a:pt x="123336" y="123336"/>
                  </a:lnTo>
                  <a:lnTo>
                    <a:pt x="158835" y="91639"/>
                  </a:lnTo>
                  <a:lnTo>
                    <a:pt x="197367" y="64349"/>
                  </a:lnTo>
                  <a:lnTo>
                    <a:pt x="238520" y="41639"/>
                  </a:lnTo>
                  <a:lnTo>
                    <a:pt x="281882" y="23678"/>
                  </a:lnTo>
                  <a:lnTo>
                    <a:pt x="327040" y="10637"/>
                  </a:lnTo>
                  <a:lnTo>
                    <a:pt x="373583" y="2687"/>
                  </a:lnTo>
                  <a:lnTo>
                    <a:pt x="421098" y="0"/>
                  </a:lnTo>
                  <a:lnTo>
                    <a:pt x="1846822" y="0"/>
                  </a:lnTo>
                  <a:lnTo>
                    <a:pt x="1895932" y="2833"/>
                  </a:lnTo>
                  <a:lnTo>
                    <a:pt x="1943377" y="11121"/>
                  </a:lnTo>
                  <a:lnTo>
                    <a:pt x="1988842" y="24549"/>
                  </a:lnTo>
                  <a:lnTo>
                    <a:pt x="2032011" y="42800"/>
                  </a:lnTo>
                  <a:lnTo>
                    <a:pt x="2072569" y="65560"/>
                  </a:lnTo>
                  <a:lnTo>
                    <a:pt x="2110199" y="92510"/>
                  </a:lnTo>
                  <a:lnTo>
                    <a:pt x="2144585" y="123336"/>
                  </a:lnTo>
                  <a:lnTo>
                    <a:pt x="2175411" y="157723"/>
                  </a:lnTo>
                  <a:lnTo>
                    <a:pt x="2202362" y="195352"/>
                  </a:lnTo>
                  <a:lnTo>
                    <a:pt x="2225121" y="235910"/>
                  </a:lnTo>
                  <a:lnTo>
                    <a:pt x="2243372" y="279079"/>
                  </a:lnTo>
                  <a:lnTo>
                    <a:pt x="2256800" y="324544"/>
                  </a:lnTo>
                  <a:lnTo>
                    <a:pt x="2265089" y="371989"/>
                  </a:lnTo>
                  <a:lnTo>
                    <a:pt x="2267922" y="421098"/>
                  </a:lnTo>
                  <a:lnTo>
                    <a:pt x="2267922" y="865052"/>
                  </a:lnTo>
                  <a:close/>
                </a:path>
              </a:pathLst>
            </a:custGeom>
            <a:solidFill>
              <a:srgbClr val="FDE1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41475" y="0"/>
              <a:ext cx="1430020" cy="737235"/>
            </a:xfrm>
            <a:custGeom>
              <a:avLst/>
              <a:gdLst/>
              <a:ahLst/>
              <a:cxnLst/>
              <a:rect l="l" t="t" r="r" b="b"/>
              <a:pathLst>
                <a:path w="1430020" h="737235">
                  <a:moveTo>
                    <a:pt x="714831" y="736829"/>
                  </a:moveTo>
                  <a:lnTo>
                    <a:pt x="665889" y="735180"/>
                  </a:lnTo>
                  <a:lnTo>
                    <a:pt x="617833" y="730304"/>
                  </a:lnTo>
                  <a:lnTo>
                    <a:pt x="570767" y="722308"/>
                  </a:lnTo>
                  <a:lnTo>
                    <a:pt x="524800" y="711298"/>
                  </a:lnTo>
                  <a:lnTo>
                    <a:pt x="480038" y="697381"/>
                  </a:lnTo>
                  <a:lnTo>
                    <a:pt x="436586" y="680663"/>
                  </a:lnTo>
                  <a:lnTo>
                    <a:pt x="394552" y="661250"/>
                  </a:lnTo>
                  <a:lnTo>
                    <a:pt x="354042" y="639249"/>
                  </a:lnTo>
                  <a:lnTo>
                    <a:pt x="315162" y="614766"/>
                  </a:lnTo>
                  <a:lnTo>
                    <a:pt x="278019" y="587908"/>
                  </a:lnTo>
                  <a:lnTo>
                    <a:pt x="242719" y="558782"/>
                  </a:lnTo>
                  <a:lnTo>
                    <a:pt x="209369" y="527493"/>
                  </a:lnTo>
                  <a:lnTo>
                    <a:pt x="178075" y="494148"/>
                  </a:lnTo>
                  <a:lnTo>
                    <a:pt x="148944" y="458854"/>
                  </a:lnTo>
                  <a:lnTo>
                    <a:pt x="122082" y="421717"/>
                  </a:lnTo>
                  <a:lnTo>
                    <a:pt x="97595" y="382843"/>
                  </a:lnTo>
                  <a:lnTo>
                    <a:pt x="75590" y="342339"/>
                  </a:lnTo>
                  <a:lnTo>
                    <a:pt x="56175" y="300312"/>
                  </a:lnTo>
                  <a:lnTo>
                    <a:pt x="39454" y="256867"/>
                  </a:lnTo>
                  <a:lnTo>
                    <a:pt x="25534" y="212112"/>
                  </a:lnTo>
                  <a:lnTo>
                    <a:pt x="14522" y="166152"/>
                  </a:lnTo>
                  <a:lnTo>
                    <a:pt x="6525" y="119095"/>
                  </a:lnTo>
                  <a:lnTo>
                    <a:pt x="1649" y="71046"/>
                  </a:lnTo>
                  <a:lnTo>
                    <a:pt x="0" y="22112"/>
                  </a:lnTo>
                  <a:lnTo>
                    <a:pt x="796" y="0"/>
                  </a:lnTo>
                  <a:lnTo>
                    <a:pt x="1428917" y="0"/>
                  </a:lnTo>
                  <a:lnTo>
                    <a:pt x="1429662" y="22112"/>
                  </a:lnTo>
                  <a:lnTo>
                    <a:pt x="1428013" y="71046"/>
                  </a:lnTo>
                  <a:lnTo>
                    <a:pt x="1423137" y="119095"/>
                  </a:lnTo>
                  <a:lnTo>
                    <a:pt x="1415140" y="166152"/>
                  </a:lnTo>
                  <a:lnTo>
                    <a:pt x="1404128" y="212112"/>
                  </a:lnTo>
                  <a:lnTo>
                    <a:pt x="1390208" y="256867"/>
                  </a:lnTo>
                  <a:lnTo>
                    <a:pt x="1373487" y="300312"/>
                  </a:lnTo>
                  <a:lnTo>
                    <a:pt x="1354071" y="342339"/>
                  </a:lnTo>
                  <a:lnTo>
                    <a:pt x="1332067" y="382843"/>
                  </a:lnTo>
                  <a:lnTo>
                    <a:pt x="1307580" y="421717"/>
                  </a:lnTo>
                  <a:lnTo>
                    <a:pt x="1280718" y="458854"/>
                  </a:lnTo>
                  <a:lnTo>
                    <a:pt x="1251587" y="494148"/>
                  </a:lnTo>
                  <a:lnTo>
                    <a:pt x="1220293" y="527493"/>
                  </a:lnTo>
                  <a:lnTo>
                    <a:pt x="1186943" y="558782"/>
                  </a:lnTo>
                  <a:lnTo>
                    <a:pt x="1151643" y="587908"/>
                  </a:lnTo>
                  <a:lnTo>
                    <a:pt x="1114500" y="614766"/>
                  </a:lnTo>
                  <a:lnTo>
                    <a:pt x="1075620" y="639249"/>
                  </a:lnTo>
                  <a:lnTo>
                    <a:pt x="1035110" y="661250"/>
                  </a:lnTo>
                  <a:lnTo>
                    <a:pt x="993076" y="680663"/>
                  </a:lnTo>
                  <a:lnTo>
                    <a:pt x="949624" y="697381"/>
                  </a:lnTo>
                  <a:lnTo>
                    <a:pt x="904861" y="711298"/>
                  </a:lnTo>
                  <a:lnTo>
                    <a:pt x="858894" y="722308"/>
                  </a:lnTo>
                  <a:lnTo>
                    <a:pt x="811829" y="730304"/>
                  </a:lnTo>
                  <a:lnTo>
                    <a:pt x="763773" y="735180"/>
                  </a:lnTo>
                  <a:lnTo>
                    <a:pt x="714831" y="7368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39999" y="4358638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80">
                <a:moveTo>
                  <a:pt x="0" y="0"/>
                </a:moveTo>
                <a:lnTo>
                  <a:pt x="14399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2995" y="257302"/>
            <a:ext cx="2743199" cy="71868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7300" y="3537072"/>
            <a:ext cx="43599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VIELEN</a:t>
            </a:r>
            <a:r>
              <a:rPr sz="4800" b="1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spc="-10" dirty="0">
                <a:solidFill>
                  <a:srgbClr val="FFFFFF"/>
                </a:solidFill>
                <a:latin typeface="Arial"/>
                <a:cs typeface="Arial"/>
              </a:rPr>
              <a:t>DANK!</a:t>
            </a:r>
            <a:endParaRPr sz="4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303" y="4579383"/>
            <a:ext cx="36455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Ostbayerische</a:t>
            </a:r>
            <a:endParaRPr sz="1600" dirty="0">
              <a:latin typeface="Arial"/>
              <a:cs typeface="Arial"/>
            </a:endParaRPr>
          </a:p>
          <a:p>
            <a:pPr marL="12700" marR="694055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Technische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Hochschule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(OTH) Amberg-Weiden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3673" y="1727202"/>
            <a:ext cx="5688326" cy="4697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671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MT</vt:lpstr>
      <vt:lpstr>Times New Roman</vt:lpstr>
      <vt:lpstr>Office Theme</vt:lpstr>
      <vt:lpstr>PowerPoint Presentation</vt:lpstr>
      <vt:lpstr>Research Question</vt:lpstr>
      <vt:lpstr>Background and Motivation</vt:lpstr>
      <vt:lpstr>Dataset and Variables</vt:lpstr>
      <vt:lpstr>Applied Methods</vt:lpstr>
      <vt:lpstr>Results on Sleep Hours Distribution by Academic Impact Group</vt:lpstr>
      <vt:lpstr>Results on Mental Health Score Distribution by Academic Impact Group</vt:lpstr>
      <vt:lpstr>Results on Addiction Score Distribution by Relationship Status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Aufenthaltstitel</dc:title>
  <dc:creator>SaiPavan</dc:creator>
  <cp:lastModifiedBy>Somantha Manuranga</cp:lastModifiedBy>
  <cp:revision>12</cp:revision>
  <dcterms:created xsi:type="dcterms:W3CDTF">2025-04-25T07:58:29Z</dcterms:created>
  <dcterms:modified xsi:type="dcterms:W3CDTF">2025-07-03T05:38:00Z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2025-04-25T00:00:00Z</vt:filetime>
  </property>
  <property fmtid="{D5CDD505-2E9C-101B-9397-08002B2CF9AE}" pid="3" name="Creator">
    <vt:lpwstr>Google</vt:lpwstr>
  </property>
  <property fmtid="{D5CDD505-2E9C-101B-9397-08002B2CF9AE}" pid="4" name="LastSaved">
    <vt:filetime>2025-04-25T00:00:00Z</vt:filetime>
  </property>
</Properties>
</file>